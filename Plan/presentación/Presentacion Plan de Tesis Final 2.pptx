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1" r:id="rId9"/>
    <p:sldId id="262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99ef49fc823e41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599ef49fc823e41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518ca322a52ee919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518ca322a52ee919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599ef49fc823e41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599ef49fc823e41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18ca322a52ee919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18ca322a52ee919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18ca322a52ee919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18ca322a52ee919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303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18ca322a52ee919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18ca322a52ee919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18ca322a52ee919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18ca322a52ee919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18ca322a52ee919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18ca322a52ee919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24422" y="198548"/>
            <a:ext cx="8695155" cy="572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rgbClr val="00B05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26206" y="897717"/>
            <a:ext cx="8695155" cy="4047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6453" y="190597"/>
            <a:ext cx="87949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86453" y="977228"/>
            <a:ext cx="879495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B05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4" name="Picture 10" descr="Xd cuenten algo random XD🤑 - TOC Penstagram">
            <a:extLst>
              <a:ext uri="{FF2B5EF4-FFF2-40B4-BE49-F238E27FC236}">
                <a16:creationId xmlns:a16="http://schemas.microsoft.com/office/drawing/2014/main" id="{D8997E1F-A67A-42BD-A68C-F8D52A27C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497" y="797233"/>
            <a:ext cx="5959048" cy="79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730170" y="762926"/>
            <a:ext cx="5959703" cy="793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2"/>
              </a:buClr>
              <a:buSzPts val="2800"/>
            </a:pPr>
            <a:r>
              <a:rPr lang="es" sz="4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Titulo</a:t>
            </a:r>
            <a:endParaRPr sz="4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699" y="2571757"/>
            <a:ext cx="8520600" cy="5240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>
                <a:solidFill>
                  <a:schemeClr val="tx1"/>
                </a:solidFill>
              </a:rPr>
              <a:t>¿Innovación Tecnológica o investigacion Tecnologica?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699" y="1923520"/>
            <a:ext cx="8520600" cy="524091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i="1" u="sng" dirty="0">
                <a:solidFill>
                  <a:schemeClr val="tx1"/>
                </a:solidFill>
                <a:latin typeface="Futura Md BT" panose="020B0602020204020303" pitchFamily="34" charset="0"/>
              </a:rPr>
              <a:t>Clasificacion ACM y/o IEEE</a:t>
            </a:r>
            <a:endParaRPr i="1" u="sng" dirty="0">
              <a:solidFill>
                <a:schemeClr val="tx1"/>
              </a:solidFill>
              <a:latin typeface="Futura Md BT" panose="020B0602020204020303" pitchFamily="34" charset="0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D20037D6-74C4-47FC-B686-FC279DDC5F14}"/>
              </a:ext>
            </a:extLst>
          </p:cNvPr>
          <p:cNvSpPr txBox="1">
            <a:spLocks/>
          </p:cNvSpPr>
          <p:nvPr/>
        </p:nvSpPr>
        <p:spPr>
          <a:xfrm>
            <a:off x="231187" y="4050098"/>
            <a:ext cx="3616194" cy="69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s-MX" sz="2400">
                <a:solidFill>
                  <a:schemeClr val="tx1"/>
                </a:solidFill>
              </a:rPr>
              <a:t>Equipo de Estudiantes</a:t>
            </a:r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D342C361-C2FF-41A8-AAA9-482694CB4118}"/>
              </a:ext>
            </a:extLst>
          </p:cNvPr>
          <p:cNvSpPr txBox="1">
            <a:spLocks/>
          </p:cNvSpPr>
          <p:nvPr/>
        </p:nvSpPr>
        <p:spPr>
          <a:xfrm>
            <a:off x="7366958" y="4024567"/>
            <a:ext cx="1627518" cy="69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lang="es-MX" sz="2400">
                <a:solidFill>
                  <a:schemeClr val="tx1"/>
                </a:solidFill>
              </a:rPr>
              <a:t>Fecha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1B01D3F9-3A2F-458F-85BB-F01A670E2911}"/>
              </a:ext>
            </a:extLst>
          </p:cNvPr>
          <p:cNvSpPr/>
          <p:nvPr/>
        </p:nvSpPr>
        <p:spPr>
          <a:xfrm rot="10800000">
            <a:off x="181221" y="95031"/>
            <a:ext cx="8781555" cy="3588448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latin typeface="Futura Md BT" panose="020B0602020204020303" pitchFamily="34" charset="0"/>
              </a:rPr>
              <a:t>Formato</a:t>
            </a:r>
            <a:endParaRPr dirty="0">
              <a:latin typeface="Futura Md BT" panose="020B0602020204020303" pitchFamily="34" charset="0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/>
            <a:r>
              <a:rPr lang="es"/>
              <a:t>Hacer uso de un solo tipo de letra.</a:t>
            </a:r>
            <a:endParaRPr/>
          </a:p>
          <a:p>
            <a:pPr marL="342900"/>
            <a:r>
              <a:rPr lang="es"/>
              <a:t>Hacer uso de letras de tamaño mayor a 20</a:t>
            </a:r>
            <a:endParaRPr/>
          </a:p>
          <a:p>
            <a:pPr marL="342900"/>
            <a:r>
              <a:rPr lang="es"/>
              <a:t>Todas las imagenes deben ser leibles y de letras visibles.</a:t>
            </a:r>
            <a:endParaRPr/>
          </a:p>
          <a:p>
            <a:pPr marL="342900"/>
            <a:r>
              <a:rPr lang="es"/>
              <a:t>Hacer uso uniforme de conceptos (ontologia única)</a:t>
            </a:r>
            <a:endParaRPr/>
          </a:p>
          <a:p>
            <a:pPr marL="342900"/>
            <a:r>
              <a:rPr lang="es"/>
              <a:t>Todos los puntos expuestos deben estar sustentados en al menos una referencia.</a:t>
            </a:r>
            <a:endParaRPr/>
          </a:p>
        </p:txBody>
      </p:sp>
      <p:pic>
        <p:nvPicPr>
          <p:cNvPr id="7170" name="Picture 2" descr="Mitos y verdades de los ingenieros industriales | Blog CUC">
            <a:extLst>
              <a:ext uri="{FF2B5EF4-FFF2-40B4-BE49-F238E27FC236}">
                <a16:creationId xmlns:a16="http://schemas.microsoft.com/office/drawing/2014/main" id="{46A0E182-86B4-4448-B2A3-540156702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39" y="3507207"/>
            <a:ext cx="2595023" cy="1636293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superiores redondeadas 6">
            <a:extLst>
              <a:ext uri="{FF2B5EF4-FFF2-40B4-BE49-F238E27FC236}">
                <a16:creationId xmlns:a16="http://schemas.microsoft.com/office/drawing/2014/main" id="{EB31A84D-E681-4735-98D4-8F9D3F7B43A2}"/>
              </a:ext>
            </a:extLst>
          </p:cNvPr>
          <p:cNvSpPr/>
          <p:nvPr/>
        </p:nvSpPr>
        <p:spPr>
          <a:xfrm rot="10800000">
            <a:off x="181221" y="95031"/>
            <a:ext cx="8781555" cy="3588448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A059853-0618-43BB-92BB-BF9820B25C2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s-MX" dirty="0">
                <a:latin typeface="Futura Md BT" panose="020B0602020204020303" pitchFamily="34" charset="0"/>
              </a:rPr>
              <a:t>Fuentes</a:t>
            </a:r>
            <a:endParaRPr lang="es-PE" dirty="0">
              <a:latin typeface="Futura Md BT" panose="020B0602020204020303" pitchFamily="34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F26B59-E98E-46D8-8464-C6EA41AC8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s-MX" sz="2400" dirty="0">
                <a:solidFill>
                  <a:srgbClr val="FF0000"/>
                </a:solidFill>
              </a:rPr>
              <a:t>No se expone (entregar link de </a:t>
            </a:r>
            <a:r>
              <a:rPr lang="es-MX" sz="2400" dirty="0" err="1">
                <a:solidFill>
                  <a:srgbClr val="FF0000"/>
                </a:solidFill>
              </a:rPr>
              <a:t>gdrive</a:t>
            </a:r>
            <a:r>
              <a:rPr lang="es-MX" sz="2400" dirty="0">
                <a:solidFill>
                  <a:srgbClr val="FF0000"/>
                </a:solidFill>
              </a:rPr>
              <a:t>)</a:t>
            </a:r>
          </a:p>
          <a:p>
            <a:r>
              <a:rPr lang="es-MX" sz="2400" dirty="0">
                <a:solidFill>
                  <a:schemeClr val="tx1"/>
                </a:solidFill>
              </a:rPr>
              <a:t>Referencias en </a:t>
            </a:r>
            <a:r>
              <a:rPr lang="es-MX" sz="2400" dirty="0" err="1">
                <a:solidFill>
                  <a:schemeClr val="tx1"/>
                </a:solidFill>
              </a:rPr>
              <a:t>pdf</a:t>
            </a:r>
            <a:r>
              <a:rPr lang="es-MX" sz="2400" dirty="0">
                <a:solidFill>
                  <a:schemeClr val="tx1"/>
                </a:solidFill>
              </a:rPr>
              <a:t> o zip del </a:t>
            </a:r>
            <a:r>
              <a:rPr lang="es-MX" sz="2400" dirty="0" err="1">
                <a:solidFill>
                  <a:schemeClr val="tx1"/>
                </a:solidFill>
              </a:rPr>
              <a:t>zotero</a:t>
            </a:r>
            <a:endParaRPr lang="es-MX" sz="2400" dirty="0">
              <a:solidFill>
                <a:schemeClr val="tx1"/>
              </a:solidFill>
            </a:endParaRPr>
          </a:p>
          <a:p>
            <a:r>
              <a:rPr lang="es-MX" sz="2400" dirty="0">
                <a:solidFill>
                  <a:schemeClr val="tx1"/>
                </a:solidFill>
              </a:rPr>
              <a:t>Informe en </a:t>
            </a:r>
            <a:r>
              <a:rPr lang="es-MX" sz="2400" dirty="0" err="1">
                <a:solidFill>
                  <a:schemeClr val="tx1"/>
                </a:solidFill>
              </a:rPr>
              <a:t>word</a:t>
            </a:r>
            <a:r>
              <a:rPr lang="es-MX" sz="2400" dirty="0">
                <a:solidFill>
                  <a:schemeClr val="tx1"/>
                </a:solidFill>
              </a:rPr>
              <a:t> o </a:t>
            </a:r>
            <a:r>
              <a:rPr lang="es-MX" sz="2400" dirty="0" err="1">
                <a:solidFill>
                  <a:schemeClr val="tx1"/>
                </a:solidFill>
              </a:rPr>
              <a:t>pdf</a:t>
            </a:r>
            <a:endParaRPr lang="es-MX" sz="2400" dirty="0">
              <a:solidFill>
                <a:schemeClr val="tx1"/>
              </a:solidFill>
            </a:endParaRPr>
          </a:p>
          <a:p>
            <a:r>
              <a:rPr lang="es-MX" sz="2400" dirty="0">
                <a:solidFill>
                  <a:schemeClr val="tx1"/>
                </a:solidFill>
              </a:rPr>
              <a:t>Presentación </a:t>
            </a:r>
          </a:p>
          <a:p>
            <a:r>
              <a:rPr lang="es-MX" sz="2400" dirty="0">
                <a:solidFill>
                  <a:schemeClr val="tx1"/>
                </a:solidFill>
              </a:rPr>
              <a:t>Datos recolectados a la fecha – Ejemplos de instancias del objeto de estudio.</a:t>
            </a:r>
            <a:endParaRPr lang="es-PE" sz="2400" dirty="0">
              <a:solidFill>
                <a:schemeClr val="tx1"/>
              </a:solidFill>
            </a:endParaRPr>
          </a:p>
        </p:txBody>
      </p:sp>
      <p:pic>
        <p:nvPicPr>
          <p:cNvPr id="8194" name="Picture 2" descr="Google Drive logo | significado del logotipo, png, vector">
            <a:extLst>
              <a:ext uri="{FF2B5EF4-FFF2-40B4-BE49-F238E27FC236}">
                <a16:creationId xmlns:a16="http://schemas.microsoft.com/office/drawing/2014/main" id="{FB436F3D-EA5F-4F75-9253-4BA4A4D77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73" y="3855168"/>
            <a:ext cx="1942658" cy="108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71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latin typeface="Futura Md BT" panose="020B0602020204020303" pitchFamily="34" charset="0"/>
              </a:rPr>
              <a:t>Introducción</a:t>
            </a:r>
            <a:r>
              <a:rPr lang="es" dirty="0"/>
              <a:t> </a:t>
            </a: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s-MX" dirty="0">
                <a:solidFill>
                  <a:srgbClr val="FF0000"/>
                </a:solidFill>
                <a:highlight>
                  <a:srgbClr val="00FFFF"/>
                </a:highlight>
              </a:rPr>
              <a:t>No se expone</a:t>
            </a:r>
            <a:endParaRPr lang="es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Presentar en una sola transparencia la </a:t>
            </a:r>
            <a:r>
              <a:rPr lang="es" b="1" dirty="0"/>
              <a:t>introduccion</a:t>
            </a:r>
            <a:r>
              <a:rPr lang="es" dirty="0"/>
              <a:t> a tema. Según las indicaciones proporcionadas en clase.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Estrella: 5 puntas 1">
            <a:extLst>
              <a:ext uri="{FF2B5EF4-FFF2-40B4-BE49-F238E27FC236}">
                <a16:creationId xmlns:a16="http://schemas.microsoft.com/office/drawing/2014/main" id="{8784620E-E799-4A8C-825E-35A44C23D9FF}"/>
              </a:ext>
            </a:extLst>
          </p:cNvPr>
          <p:cNvSpPr/>
          <p:nvPr/>
        </p:nvSpPr>
        <p:spPr>
          <a:xfrm>
            <a:off x="2079100" y="966728"/>
            <a:ext cx="526076" cy="39624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Ontologia de la Tesis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0"/>
              </a:spcAft>
              <a:buNone/>
            </a:pPr>
            <a:r>
              <a:rPr lang="es-MX" dirty="0">
                <a:solidFill>
                  <a:srgbClr val="FF0000"/>
                </a:solidFill>
                <a:highlight>
                  <a:srgbClr val="00FFFF"/>
                </a:highlight>
              </a:rPr>
              <a:t>No se expone, solo 1 transparencia</a:t>
            </a:r>
          </a:p>
          <a:p>
            <a:pPr marL="0" lvl="0" indent="0" algn="l" rtl="0">
              <a:spcAft>
                <a:spcPts val="0"/>
              </a:spcAft>
              <a:buNone/>
            </a:pPr>
            <a:r>
              <a:rPr lang="es-MX" dirty="0"/>
              <a:t>Presentar los principales conceptos usados en el plan de tesis.</a:t>
            </a:r>
          </a:p>
          <a:p>
            <a:pPr marL="0" lvl="0" indent="0" algn="l" rtl="0">
              <a:spcAft>
                <a:spcPts val="0"/>
              </a:spcAft>
              <a:buNone/>
            </a:pPr>
            <a:r>
              <a:rPr lang="es-MX" dirty="0"/>
              <a:t>Relacionar los conceptos.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¿</a:t>
            </a:r>
            <a:r>
              <a:rPr lang="es-MX" dirty="0">
                <a:solidFill>
                  <a:srgbClr val="00B0F0"/>
                </a:solidFill>
              </a:rPr>
              <a:t>Donde</a:t>
            </a:r>
            <a:r>
              <a:rPr lang="es-MX" dirty="0"/>
              <a:t> ocurre la situación real que se desea analizar?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Explica si es una </a:t>
            </a:r>
            <a:r>
              <a:rPr lang="es-MX" dirty="0">
                <a:solidFill>
                  <a:srgbClr val="00B0F0"/>
                </a:solidFill>
              </a:rPr>
              <a:t>empresa</a:t>
            </a:r>
            <a:r>
              <a:rPr lang="es-MX" dirty="0"/>
              <a:t>, un </a:t>
            </a:r>
            <a:r>
              <a:rPr lang="es-MX" dirty="0">
                <a:solidFill>
                  <a:srgbClr val="00B0F0"/>
                </a:solidFill>
              </a:rPr>
              <a:t>ambiente físico</a:t>
            </a:r>
            <a:r>
              <a:rPr lang="es-MX" dirty="0"/>
              <a:t>, o </a:t>
            </a:r>
            <a:r>
              <a:rPr lang="es-MX" dirty="0">
                <a:solidFill>
                  <a:srgbClr val="00B0F0"/>
                </a:solidFill>
              </a:rPr>
              <a:t>virtual</a:t>
            </a:r>
            <a:r>
              <a:rPr lang="es-MX" dirty="0"/>
              <a:t>, un </a:t>
            </a:r>
            <a:r>
              <a:rPr lang="es-MX" dirty="0">
                <a:solidFill>
                  <a:srgbClr val="00B0F0"/>
                </a:solidFill>
              </a:rPr>
              <a:t>proceso administrativo</a:t>
            </a:r>
            <a:r>
              <a:rPr lang="es-MX" dirty="0"/>
              <a:t>, un </a:t>
            </a:r>
            <a:r>
              <a:rPr lang="es-MX" dirty="0">
                <a:solidFill>
                  <a:srgbClr val="00B0F0"/>
                </a:solidFill>
              </a:rPr>
              <a:t>proceso biológico</a:t>
            </a:r>
            <a:r>
              <a:rPr lang="es-MX" dirty="0"/>
              <a:t>, etc..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Quienes son los actores que se desempeñan, en la situación real.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DAE29E-18E2-4F96-8F5C-7E7173527A0B}"/>
              </a:ext>
            </a:extLst>
          </p:cNvPr>
          <p:cNvSpPr/>
          <p:nvPr/>
        </p:nvSpPr>
        <p:spPr>
          <a:xfrm>
            <a:off x="7273155" y="19011"/>
            <a:ext cx="1872000" cy="562074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0320" tIns="120320" rIns="120320" bIns="120320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MX" sz="2000" b="1">
                <a:solidFill>
                  <a:srgbClr val="2968C0"/>
                </a:solidFill>
              </a:rPr>
              <a:t>La situación real</a:t>
            </a:r>
            <a:endParaRPr lang="es-PE" sz="2000" b="1" kern="1200">
              <a:solidFill>
                <a:srgbClr val="2968C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buNone/>
            </a:pPr>
            <a:r>
              <a:rPr lang="es" dirty="0"/>
              <a:t>Explicar. Cuales son los síntomas que se identifican en la situación real. ¿Cuál es el dolor, el calor, la preocupación?</a:t>
            </a:r>
            <a:endParaRPr dirty="0"/>
          </a:p>
          <a:p>
            <a:pPr marL="0" lvl="0" indent="0" algn="l" rtl="0">
              <a:buNone/>
            </a:pPr>
            <a:r>
              <a:rPr lang="es" dirty="0"/>
              <a:t>Presentar estadisticas</a:t>
            </a:r>
            <a:endParaRPr dirty="0"/>
          </a:p>
          <a:p>
            <a:pPr marL="0" lvl="0" indent="0" algn="l" rtl="0">
              <a:buNone/>
            </a:pPr>
            <a:r>
              <a:rPr lang="es" dirty="0"/>
              <a:t>¿Cuál de los actores manifiesta los dolores?</a:t>
            </a:r>
          </a:p>
          <a:p>
            <a:pPr marL="0" lvl="0" indent="0" algn="l" rtl="0">
              <a:buNone/>
            </a:pPr>
            <a:endParaRPr lang="es" dirty="0"/>
          </a:p>
          <a:p>
            <a:pPr marL="0" lvl="0" indent="0" algn="l" rtl="0">
              <a:buNone/>
            </a:pPr>
            <a:r>
              <a:rPr lang="es" dirty="0"/>
              <a:t>Recuerde: </a:t>
            </a:r>
            <a:r>
              <a:rPr lang="es" sz="2000" b="1" dirty="0">
                <a:solidFill>
                  <a:srgbClr val="2968C0"/>
                </a:solidFill>
                <a:latin typeface="+mn-lt"/>
                <a:ea typeface="+mn-ea"/>
                <a:cs typeface="+mn-cs"/>
              </a:rPr>
              <a:t>la problemática no se resuelve de forma directa.</a:t>
            </a:r>
            <a:endParaRPr sz="2000" b="1" dirty="0">
              <a:solidFill>
                <a:srgbClr val="2968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9C1855E-6E78-44A8-8AB2-4D6CD17FEF5E}"/>
              </a:ext>
            </a:extLst>
          </p:cNvPr>
          <p:cNvSpPr/>
          <p:nvPr/>
        </p:nvSpPr>
        <p:spPr>
          <a:xfrm>
            <a:off x="7273155" y="19011"/>
            <a:ext cx="1872000" cy="562074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0320" tIns="120320" rIns="120320" bIns="120320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MX" sz="2000" b="1" dirty="0">
                <a:solidFill>
                  <a:srgbClr val="2968C0"/>
                </a:solidFill>
              </a:rPr>
              <a:t>La situación real</a:t>
            </a:r>
            <a:endParaRPr lang="es-PE" sz="2000" b="1" kern="1200" dirty="0">
              <a:solidFill>
                <a:srgbClr val="2968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602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Objeto de Estudio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Explicar ¿cuál es la causa de los sintomas identificados?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Cuál es el </a:t>
            </a:r>
            <a:r>
              <a:rPr lang="es" b="1" dirty="0"/>
              <a:t>objeto</a:t>
            </a:r>
            <a:r>
              <a:rPr lang="es" dirty="0"/>
              <a:t> que se desea analizar.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Qué características tiene el objeto.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dirty="0"/>
              <a:t>Recomendación: Usar la ontologia elaborada para exponer con claridad el problema subyacente.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BF520F9-0E33-46EF-B321-8C2850D79B64}"/>
              </a:ext>
            </a:extLst>
          </p:cNvPr>
          <p:cNvSpPr/>
          <p:nvPr/>
        </p:nvSpPr>
        <p:spPr>
          <a:xfrm>
            <a:off x="7272000" y="0"/>
            <a:ext cx="1872000" cy="562074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30" tIns="124130" rIns="124130" bIns="1241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b="1" kern="1200" dirty="0">
                <a:solidFill>
                  <a:srgbClr val="348648"/>
                </a:solidFill>
              </a:rPr>
              <a:t>La situación subyacente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Objeto de estudio real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226207" y="897717"/>
            <a:ext cx="6303990" cy="4047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Aft>
                <a:spcPts val="0"/>
              </a:spcAft>
              <a:buNone/>
            </a:pPr>
            <a:r>
              <a:rPr lang="es" dirty="0"/>
              <a:t>Caracterizar el objeto de estudio tal como existe en la realidad.</a:t>
            </a:r>
            <a:endParaRPr dirty="0"/>
          </a:p>
          <a:p>
            <a:pPr marL="0" lvl="0" indent="0" algn="l" rtl="0">
              <a:spcAft>
                <a:spcPts val="0"/>
              </a:spcAft>
              <a:buNone/>
            </a:pPr>
            <a:r>
              <a:rPr lang="es" dirty="0"/>
              <a:t>Presente su taxonomia</a:t>
            </a:r>
            <a:endParaRPr dirty="0"/>
          </a:p>
          <a:p>
            <a:pPr marL="0" lvl="0" indent="0" algn="l" rtl="0">
              <a:spcAft>
                <a:spcPts val="0"/>
              </a:spcAft>
              <a:buNone/>
            </a:pPr>
            <a:r>
              <a:rPr lang="es" dirty="0"/>
              <a:t>Presente es el ciclo de vida del objeto de estudio (no confundir con los procesos en los que participa)</a:t>
            </a:r>
          </a:p>
          <a:p>
            <a:pPr marL="0" lvl="0" indent="0" algn="l" rtl="0"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Aft>
                <a:spcPts val="0"/>
              </a:spcAft>
              <a:buNone/>
            </a:pPr>
            <a:r>
              <a:rPr lang="es" sz="1900" b="1" dirty="0"/>
              <a:t>El objeto de estudio real se traslada a una representación mediante un sensor o un proceso de registro (instrumento IoT, encuesta, registros).</a:t>
            </a:r>
          </a:p>
          <a:p>
            <a:pPr marL="0" lvl="0" indent="0" algn="l" rtl="0"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A262CC-7EFD-41EB-94C5-89D4B66621DD}"/>
              </a:ext>
            </a:extLst>
          </p:cNvPr>
          <p:cNvSpPr txBox="1"/>
          <p:nvPr/>
        </p:nvSpPr>
        <p:spPr>
          <a:xfrm>
            <a:off x="6530197" y="897717"/>
            <a:ext cx="2510287" cy="375487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Objeto de estudio real:</a:t>
            </a:r>
          </a:p>
          <a:p>
            <a:pPr algn="just"/>
            <a:r>
              <a:rPr lang="es-MX" dirty="0"/>
              <a:t>entidad o fenómeno que existe con independencia del acto de observación y de los instrumentos de medición, constituyendo el referente primario de la investigación.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Ejemplos: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Una planta de mandarina.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Un paciente.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Una red eléctrica.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Un edificio.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Un ecosistema.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Una célula.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Una persona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Un equipo de proyecto.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B2D8EAF-CCCA-4E07-A177-066CD122472C}"/>
              </a:ext>
            </a:extLst>
          </p:cNvPr>
          <p:cNvSpPr/>
          <p:nvPr/>
        </p:nvSpPr>
        <p:spPr>
          <a:xfrm>
            <a:off x="7272000" y="0"/>
            <a:ext cx="1872000" cy="562074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30" tIns="124130" rIns="124130" bIns="1241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b="1" kern="1200" dirty="0">
                <a:solidFill>
                  <a:srgbClr val="348648"/>
                </a:solidFill>
              </a:rPr>
              <a:t>La situación subyacente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34094-AD9E-4F93-89BF-F4FEA103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Instrumento para medir el objeto de estudio.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81C89-2C8C-4FFF-A9DA-712E66816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s-MX" sz="2000" dirty="0"/>
              <a:t>Describir el instrumento que usará para “capturar” las propiedades del objeto de estudio real.</a:t>
            </a:r>
          </a:p>
          <a:p>
            <a:pPr marL="114300" indent="0">
              <a:buNone/>
            </a:pPr>
            <a:endParaRPr lang="es-MX" sz="2000" b="1" dirty="0"/>
          </a:p>
          <a:p>
            <a:pPr marL="114300" indent="0">
              <a:buNone/>
            </a:pPr>
            <a:r>
              <a:rPr lang="es-MX" sz="2000" b="1" dirty="0"/>
              <a:t>Por ejemplo</a:t>
            </a:r>
          </a:p>
          <a:p>
            <a:pPr marL="114300" indent="0">
              <a:buNone/>
            </a:pPr>
            <a:r>
              <a:rPr lang="es-MX" sz="2000" b="1" dirty="0"/>
              <a:t>Objeto de estudio real	      instrumento </a:t>
            </a:r>
            <a:r>
              <a:rPr lang="es-MX" sz="2000" b="1" dirty="0" err="1"/>
              <a:t>IoT</a:t>
            </a:r>
            <a:r>
              <a:rPr lang="es-MX" sz="2000" b="1" dirty="0"/>
              <a:t>	</a:t>
            </a:r>
            <a:r>
              <a:rPr lang="es-MX" sz="2000" b="1" dirty="0">
                <a:sym typeface="Wingdings" panose="05000000000000000000" pitchFamily="2" charset="2"/>
              </a:rPr>
              <a:t>objeto de estudio modelado</a:t>
            </a:r>
            <a:endParaRPr lang="es-MX" sz="2000" b="1" dirty="0"/>
          </a:p>
          <a:p>
            <a:pPr marL="114300" indent="0">
              <a:buNone/>
            </a:pPr>
            <a:r>
              <a:rPr lang="es-MX" sz="2000" dirty="0"/>
              <a:t>Escenas reales		</a:t>
            </a:r>
            <a:r>
              <a:rPr lang="es-MX" sz="2000" dirty="0">
                <a:sym typeface="Wingdings" panose="05000000000000000000" pitchFamily="2" charset="2"/>
              </a:rPr>
              <a:t> Cámara RGB		  video, imágenes</a:t>
            </a:r>
          </a:p>
          <a:p>
            <a:pPr marL="114300" indent="0">
              <a:buNone/>
            </a:pPr>
            <a:r>
              <a:rPr lang="es-MX" sz="2000" dirty="0">
                <a:sym typeface="Wingdings" panose="05000000000000000000" pitchFamily="2" charset="2"/>
              </a:rPr>
              <a:t>Vibraciones		 grabadora		 señal</a:t>
            </a:r>
          </a:p>
          <a:p>
            <a:pPr marL="114300" indent="0">
              <a:buNone/>
            </a:pPr>
            <a:r>
              <a:rPr lang="es-MX" sz="2000" dirty="0">
                <a:sym typeface="Wingdings" panose="05000000000000000000" pitchFamily="2" charset="2"/>
              </a:rPr>
              <a:t> 			      acelerómetros</a:t>
            </a:r>
          </a:p>
          <a:p>
            <a:pPr marL="114300" indent="0">
              <a:buNone/>
            </a:pPr>
            <a:r>
              <a:rPr lang="es-MX" sz="2000" dirty="0">
                <a:sym typeface="Wingdings" panose="05000000000000000000" pitchFamily="2" charset="2"/>
              </a:rPr>
              <a:t>Escenas reales		 </a:t>
            </a:r>
            <a:r>
              <a:rPr lang="es-MX" sz="2000" dirty="0" err="1">
                <a:sym typeface="Wingdings" panose="05000000000000000000" pitchFamily="2" charset="2"/>
              </a:rPr>
              <a:t>lidar</a:t>
            </a:r>
            <a:r>
              <a:rPr lang="es-MX" sz="2000" dirty="0">
                <a:sym typeface="Wingdings" panose="05000000000000000000" pitchFamily="2" charset="2"/>
              </a:rPr>
              <a:t>			 nube de puntos</a:t>
            </a:r>
            <a:endParaRPr lang="es-PE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2BEF7D-FF80-4C5A-B363-7A62F9068C53}"/>
              </a:ext>
            </a:extLst>
          </p:cNvPr>
          <p:cNvSpPr txBox="1"/>
          <p:nvPr/>
        </p:nvSpPr>
        <p:spPr>
          <a:xfrm>
            <a:off x="224422" y="4206288"/>
            <a:ext cx="8695155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Objeto de estudio modelado:</a:t>
            </a:r>
            <a:r>
              <a:rPr lang="es-MX" dirty="0"/>
              <a:t> representación formal, digital, matemática o simbólica del objeto de estudio real, generada mediante instrumentos de adquisición o procedimientos de modelado, que constituye el referente empírico inmediato sobre el cual se realizan las observaciones, mediciones y análisis.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823535-1C09-4A46-8C94-D4E0FAF6B3B8}"/>
              </a:ext>
            </a:extLst>
          </p:cNvPr>
          <p:cNvSpPr/>
          <p:nvPr/>
        </p:nvSpPr>
        <p:spPr>
          <a:xfrm>
            <a:off x="7272000" y="0"/>
            <a:ext cx="1872000" cy="562074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30" tIns="124130" rIns="124130" bIns="1241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b="1" kern="1200" dirty="0">
                <a:solidFill>
                  <a:srgbClr val="348648"/>
                </a:solidFill>
              </a:rPr>
              <a:t>La situación subyacente</a:t>
            </a:r>
          </a:p>
        </p:txBody>
      </p:sp>
    </p:spTree>
    <p:extLst>
      <p:ext uri="{BB962C8B-B14F-4D97-AF65-F5344CB8AC3E}">
        <p14:creationId xmlns:p14="http://schemas.microsoft.com/office/powerpoint/2010/main" val="1847362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224422" y="198548"/>
            <a:ext cx="8695155" cy="572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Objeto de estudio modelado</a:t>
            </a:r>
            <a:endParaRPr dirty="0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Presentar ejemplos del objeto de estudio.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 usted ya sabe los estados en los que serán clasificado (presente ejemplos de cada estado)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2E9C62-6B2B-4ADA-8CB0-1E589B616A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4" r="870"/>
          <a:stretch/>
        </p:blipFill>
        <p:spPr>
          <a:xfrm>
            <a:off x="1686463" y="2941403"/>
            <a:ext cx="5771072" cy="2003549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5F6D9EA-639E-4EC5-ABBE-6943ABD6A4BA}"/>
              </a:ext>
            </a:extLst>
          </p:cNvPr>
          <p:cNvSpPr/>
          <p:nvPr/>
        </p:nvSpPr>
        <p:spPr>
          <a:xfrm>
            <a:off x="7272000" y="0"/>
            <a:ext cx="1872000" cy="562074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30" tIns="124130" rIns="124130" bIns="1241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b="1" kern="1200" dirty="0">
                <a:solidFill>
                  <a:srgbClr val="348648"/>
                </a:solidFill>
              </a:rPr>
              <a:t>La situación subyacente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F57C3-AC9F-407E-98F3-5775C1B4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Problema tecnológico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A31785-D24A-4E77-932B-0FF4FD2B1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MX" dirty="0">
                <a:solidFill>
                  <a:srgbClr val="FF0000"/>
                </a:solidFill>
                <a:highlight>
                  <a:srgbClr val="00FFFF"/>
                </a:highlight>
              </a:rPr>
              <a:t>No se expone</a:t>
            </a:r>
          </a:p>
          <a:p>
            <a:r>
              <a:rPr lang="es-MX" dirty="0"/>
              <a:t>Establecer las característica del </a:t>
            </a:r>
            <a:r>
              <a:rPr lang="es-MX" b="1" dirty="0"/>
              <a:t>artefacto</a:t>
            </a:r>
            <a:r>
              <a:rPr lang="es-MX" dirty="0"/>
              <a:t> que construirá para resolver el problema planteado.</a:t>
            </a:r>
          </a:p>
          <a:p>
            <a:r>
              <a:rPr lang="es-MX" dirty="0"/>
              <a:t>Si corresponde, precisar el tipo de problema de ML: Regresión, Clasificación, Pronóstico, Asociación.</a:t>
            </a:r>
          </a:p>
          <a:p>
            <a:r>
              <a:rPr lang="es-MX" dirty="0"/>
              <a:t>Puede presentar la arquitectura del artefacto.</a:t>
            </a:r>
          </a:p>
          <a:p>
            <a:r>
              <a:rPr lang="es-MX" dirty="0"/>
              <a:t>Puede presentar el modo de operación del artefacto.</a:t>
            </a:r>
          </a:p>
          <a:p>
            <a:r>
              <a:rPr lang="es-MX" dirty="0"/>
              <a:t>Es un proceso, es un software, es un hardware, es </a:t>
            </a:r>
            <a:r>
              <a:rPr lang="es-MX" dirty="0" err="1"/>
              <a:t>HW+SW</a:t>
            </a:r>
            <a:r>
              <a:rPr lang="es-MX" dirty="0"/>
              <a:t>, es </a:t>
            </a:r>
            <a:r>
              <a:rPr lang="es-MX" dirty="0" err="1"/>
              <a:t>HW+SW+Comunicaciones</a:t>
            </a:r>
            <a:r>
              <a:rPr lang="es-MX" dirty="0"/>
              <a:t>, </a:t>
            </a:r>
            <a:r>
              <a:rPr lang="es-MX" dirty="0" err="1"/>
              <a:t>etc</a:t>
            </a:r>
            <a:r>
              <a:rPr lang="es-MX" dirty="0"/>
              <a:t>???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15CFD7F-8113-48A9-8F3B-1A75FB5B18B2}"/>
              </a:ext>
            </a:extLst>
          </p:cNvPr>
          <p:cNvSpPr/>
          <p:nvPr/>
        </p:nvSpPr>
        <p:spPr>
          <a:xfrm>
            <a:off x="7280626" y="11726"/>
            <a:ext cx="1872000" cy="562074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30" tIns="124130" rIns="124130" bIns="1241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b="1" kern="1200" dirty="0">
                <a:solidFill>
                  <a:srgbClr val="E35402"/>
                </a:solidFill>
              </a:rPr>
              <a:t>La situación tecnológica.</a:t>
            </a:r>
          </a:p>
        </p:txBody>
      </p:sp>
    </p:spTree>
    <p:extLst>
      <p:ext uri="{BB962C8B-B14F-4D97-AF65-F5344CB8AC3E}">
        <p14:creationId xmlns:p14="http://schemas.microsoft.com/office/powerpoint/2010/main" val="3583510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3C9A4-D2EF-4123-8F6C-3A8BB099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Planteamiento del Problema Tecnológico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7A9BC5-D5A5-4600-B7C3-C7A2C8620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>
                <a:solidFill>
                  <a:srgbClr val="7030A0"/>
                </a:solidFill>
              </a:rPr>
              <a:t>Problema General.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Observe que el problema técnico, solo se relaciona con el artefacto a construir.</a:t>
            </a:r>
          </a:p>
          <a:p>
            <a:r>
              <a:rPr lang="es-MX" dirty="0"/>
              <a:t>Presente referencias que argumenten este 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B1D2470-FAB0-48E7-9E34-09F1AE830ED1}"/>
              </a:ext>
            </a:extLst>
          </p:cNvPr>
          <p:cNvSpPr/>
          <p:nvPr/>
        </p:nvSpPr>
        <p:spPr>
          <a:xfrm>
            <a:off x="7280626" y="11726"/>
            <a:ext cx="1872000" cy="562074"/>
          </a:xfrm>
          <a:prstGeom prst="rect">
            <a:avLst/>
          </a:pr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4130" tIns="124130" rIns="124130" bIns="12413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2000" b="1" kern="1200" dirty="0">
                <a:solidFill>
                  <a:srgbClr val="E35402"/>
                </a:solidFill>
              </a:rPr>
              <a:t>La situación tecnológica.</a:t>
            </a:r>
          </a:p>
        </p:txBody>
      </p:sp>
    </p:spTree>
    <p:extLst>
      <p:ext uri="{BB962C8B-B14F-4D97-AF65-F5344CB8AC3E}">
        <p14:creationId xmlns:p14="http://schemas.microsoft.com/office/powerpoint/2010/main" val="9316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D639A-9D2D-4683-9601-925B824A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Problemas específicos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912EF-A772-4DBF-83E9-34FAC24C6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>
                <a:solidFill>
                  <a:srgbClr val="7030A0"/>
                </a:solidFill>
              </a:rPr>
              <a:t>PE1</a:t>
            </a:r>
            <a:r>
              <a:rPr lang="es-MX" dirty="0">
                <a:solidFill>
                  <a:srgbClr val="7030A0"/>
                </a:solidFill>
              </a:rPr>
              <a:t>. </a:t>
            </a:r>
          </a:p>
          <a:p>
            <a:r>
              <a:rPr lang="es-MX" dirty="0" err="1">
                <a:solidFill>
                  <a:srgbClr val="7030A0"/>
                </a:solidFill>
              </a:rPr>
              <a:t>PE2</a:t>
            </a:r>
            <a:endParaRPr lang="es-MX" dirty="0">
              <a:solidFill>
                <a:srgbClr val="7030A0"/>
              </a:solidFill>
            </a:endParaRPr>
          </a:p>
          <a:p>
            <a:r>
              <a:rPr lang="es-MX" dirty="0" err="1">
                <a:solidFill>
                  <a:srgbClr val="7030A0"/>
                </a:solidFill>
              </a:rPr>
              <a:t>PE3</a:t>
            </a:r>
            <a:endParaRPr lang="es-MX" dirty="0">
              <a:solidFill>
                <a:srgbClr val="7030A0"/>
              </a:solidFill>
            </a:endParaRPr>
          </a:p>
          <a:p>
            <a:r>
              <a:rPr lang="es-MX" dirty="0" err="1">
                <a:solidFill>
                  <a:srgbClr val="7030A0"/>
                </a:solidFill>
              </a:rPr>
              <a:t>PE4</a:t>
            </a:r>
            <a:endParaRPr lang="es-MX" dirty="0">
              <a:solidFill>
                <a:srgbClr val="7030A0"/>
              </a:solidFill>
            </a:endParaRPr>
          </a:p>
          <a:p>
            <a:r>
              <a:rPr lang="es-MX" dirty="0" err="1">
                <a:solidFill>
                  <a:srgbClr val="7030A0"/>
                </a:solidFill>
              </a:rPr>
              <a:t>PE5</a:t>
            </a:r>
            <a:endParaRPr lang="es-MX" dirty="0">
              <a:solidFill>
                <a:srgbClr val="7030A0"/>
              </a:solidFill>
            </a:endParaRPr>
          </a:p>
          <a:p>
            <a:r>
              <a:rPr lang="es-MX" dirty="0" err="1">
                <a:solidFill>
                  <a:srgbClr val="7030A0"/>
                </a:solidFill>
              </a:rPr>
              <a:t>PE6</a:t>
            </a:r>
            <a:endParaRPr lang="es-MX" dirty="0">
              <a:solidFill>
                <a:srgbClr val="7030A0"/>
              </a:solidFill>
            </a:endParaRP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Todos los problemas deben ser planteados con situaciones.</a:t>
            </a:r>
          </a:p>
          <a:p>
            <a:r>
              <a:rPr lang="es-MX" dirty="0"/>
              <a:t>Las situaciones deben estar relacionados con el  artefacto.</a:t>
            </a:r>
          </a:p>
          <a:p>
            <a:pPr marL="11430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83481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CAB75-21F4-49B4-9203-25FE140F8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General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D894AA-3864-4DBC-9614-7DF600F8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r>
              <a:rPr lang="es-MX" dirty="0"/>
              <a:t>Exponer el objetivo general de la investigación.</a:t>
            </a:r>
          </a:p>
          <a:p>
            <a:r>
              <a:rPr lang="es-MX" dirty="0"/>
              <a:t>Relacionado a la construcción del artefacto.</a:t>
            </a:r>
          </a:p>
          <a:p>
            <a:endParaRPr lang="es-MX" dirty="0"/>
          </a:p>
          <a:p>
            <a:r>
              <a:rPr lang="es-MX" dirty="0"/>
              <a:t>Precisar el </a:t>
            </a:r>
            <a:r>
              <a:rPr lang="es-MX" dirty="0">
                <a:solidFill>
                  <a:srgbClr val="FF0066"/>
                </a:solidFill>
              </a:rPr>
              <a:t>insumo inicial</a:t>
            </a:r>
          </a:p>
          <a:p>
            <a:r>
              <a:rPr lang="es-MX" dirty="0"/>
              <a:t>Precisar un medida de que tan bien el artefacto ejecutará su tarea (</a:t>
            </a:r>
            <a:r>
              <a:rPr lang="es-MX" dirty="0">
                <a:solidFill>
                  <a:srgbClr val="7030A0"/>
                </a:solidFill>
              </a:rPr>
              <a:t>variable dependiente </a:t>
            </a:r>
            <a:r>
              <a:rPr lang="es-MX" dirty="0"/>
              <a:t>de la investigación).</a:t>
            </a:r>
          </a:p>
          <a:p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23AF0B-7E44-4007-89AD-9D15CA3E7A70}"/>
              </a:ext>
            </a:extLst>
          </p:cNvPr>
          <p:cNvSpPr/>
          <p:nvPr/>
        </p:nvSpPr>
        <p:spPr>
          <a:xfrm>
            <a:off x="3644659" y="3874847"/>
            <a:ext cx="1854680" cy="572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Objetivo General</a:t>
            </a:r>
            <a:endParaRPr lang="es-PE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D129678-343D-4E70-95A6-F559C78B22D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769079" y="4161211"/>
            <a:ext cx="875580" cy="1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FFB5DE5-E2BE-44F6-8105-D2F1AA408D28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499339" y="4161211"/>
            <a:ext cx="866955" cy="1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DE1A927-0E7D-4B73-AE08-E566185F38D8}"/>
              </a:ext>
            </a:extLst>
          </p:cNvPr>
          <p:cNvSpPr txBox="1"/>
          <p:nvPr/>
        </p:nvSpPr>
        <p:spPr>
          <a:xfrm>
            <a:off x="1893499" y="3899601"/>
            <a:ext cx="875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dirty="0">
                <a:solidFill>
                  <a:srgbClr val="FF0066"/>
                </a:solidFill>
              </a:rPr>
              <a:t>insumo inicial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9AD9B6-0EF1-482E-9144-0ED134F21DC2}"/>
              </a:ext>
            </a:extLst>
          </p:cNvPr>
          <p:cNvSpPr txBox="1"/>
          <p:nvPr/>
        </p:nvSpPr>
        <p:spPr>
          <a:xfrm>
            <a:off x="6366294" y="3899601"/>
            <a:ext cx="1285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7030A0"/>
                </a:solidFill>
              </a:rPr>
              <a:t>Variable dependiente</a:t>
            </a:r>
          </a:p>
        </p:txBody>
      </p:sp>
    </p:spTree>
    <p:extLst>
      <p:ext uri="{BB962C8B-B14F-4D97-AF65-F5344CB8AC3E}">
        <p14:creationId xmlns:p14="http://schemas.microsoft.com/office/powerpoint/2010/main" val="2755416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883B0-9535-46EA-8368-84DFCF43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Objetivos Específicos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59DF9E-8BE8-4BDF-B047-23E26B814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MX" dirty="0"/>
              <a:t>Exponer cada objetivo específico</a:t>
            </a:r>
          </a:p>
          <a:p>
            <a:endParaRPr lang="es-MX" dirty="0"/>
          </a:p>
          <a:p>
            <a:r>
              <a:rPr lang="es-MX" dirty="0" err="1"/>
              <a:t>OE1</a:t>
            </a:r>
            <a:endParaRPr lang="es-MX" dirty="0"/>
          </a:p>
          <a:p>
            <a:r>
              <a:rPr lang="es-MX" dirty="0" err="1"/>
              <a:t>OE2</a:t>
            </a:r>
            <a:endParaRPr lang="es-MX" dirty="0"/>
          </a:p>
          <a:p>
            <a:r>
              <a:rPr lang="es-MX" dirty="0" err="1"/>
              <a:t>OE3</a:t>
            </a:r>
            <a:endParaRPr lang="es-MX" dirty="0"/>
          </a:p>
          <a:p>
            <a:r>
              <a:rPr lang="es-MX" dirty="0" err="1"/>
              <a:t>OE4</a:t>
            </a:r>
            <a:endParaRPr lang="es-MX" dirty="0"/>
          </a:p>
          <a:p>
            <a:r>
              <a:rPr lang="es-MX" dirty="0" err="1"/>
              <a:t>OE5</a:t>
            </a:r>
            <a:endParaRPr lang="es-MX" dirty="0"/>
          </a:p>
          <a:p>
            <a:r>
              <a:rPr lang="es-MX" dirty="0" err="1"/>
              <a:t>OE6</a:t>
            </a:r>
            <a:endParaRPr lang="es-MX" dirty="0"/>
          </a:p>
          <a:p>
            <a:endParaRPr lang="es-MX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2BE8E9CB-746B-463C-A87A-7DEE449F0352}"/>
              </a:ext>
            </a:extLst>
          </p:cNvPr>
          <p:cNvSpPr txBox="1">
            <a:spLocks/>
          </p:cNvSpPr>
          <p:nvPr/>
        </p:nvSpPr>
        <p:spPr>
          <a:xfrm>
            <a:off x="2035835" y="1617873"/>
            <a:ext cx="3001992" cy="150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800" dirty="0"/>
              <a:t>Explicar la entrada y resultado de cada OE.</a:t>
            </a:r>
          </a:p>
          <a:p>
            <a:endParaRPr lang="es-MX" sz="1800" dirty="0"/>
          </a:p>
          <a:p>
            <a:r>
              <a:rPr lang="es-MX" sz="1800" dirty="0"/>
              <a:t>Precisar las variables independientes y dependientes.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A2EA85-24C4-454C-8ADA-8F42696E5C04}"/>
              </a:ext>
            </a:extLst>
          </p:cNvPr>
          <p:cNvSpPr txBox="1"/>
          <p:nvPr/>
        </p:nvSpPr>
        <p:spPr>
          <a:xfrm>
            <a:off x="5625461" y="897717"/>
            <a:ext cx="3491778" cy="310854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400" dirty="0"/>
              <a:t>Un OE es un hito en el proceso de construcción del artefacto, siempre genera un producto o resultados medible</a:t>
            </a:r>
          </a:p>
          <a:p>
            <a:endParaRPr lang="es-MX" dirty="0"/>
          </a:p>
          <a:p>
            <a:r>
              <a:rPr lang="es-MX" dirty="0"/>
              <a:t>Activades que NO son objetivos: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Ejecutar experimentos.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Elaborar el informe de tesis.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Entrenar un modelo de 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Medir el tiempo de ejecución del algoritmo.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Programar el algoritmo en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Recopilar información bibliográfica.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Exponer los resultados.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75794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33435-86E6-4526-9E06-237690D66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Variables independientes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F24A0D-52A7-4FCF-9728-AD2E014DB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Precisar las variables independientes de la solución.</a:t>
            </a:r>
          </a:p>
          <a:p>
            <a:r>
              <a:rPr lang="es-MX" dirty="0"/>
              <a:t>Ellos dependen solo del investigador.</a:t>
            </a:r>
          </a:p>
          <a:p>
            <a:r>
              <a:rPr lang="es-MX" dirty="0"/>
              <a:t>Precisar los estados y su significado.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73C4C8-0749-474F-872B-9A5827221810}"/>
              </a:ext>
            </a:extLst>
          </p:cNvPr>
          <p:cNvSpPr txBox="1"/>
          <p:nvPr/>
        </p:nvSpPr>
        <p:spPr>
          <a:xfrm>
            <a:off x="294258" y="4051446"/>
            <a:ext cx="8555484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MX" b="1" dirty="0"/>
              <a:t>Variable independiente:</a:t>
            </a:r>
            <a:r>
              <a:rPr lang="es-MX" dirty="0"/>
              <a:t> artefacto o intervención diseñada por el investigador, cuyos estados corresponden a las distintas configuraciones, versiones o alternativas implementadas y evaluadas durante la investigación.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98168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E41604-7546-45D5-AC46-60717921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Variables independientes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F6BC3B-A81A-418F-84EE-25DE3A37F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MX" dirty="0"/>
              <a:t>Válidos				No válidos</a:t>
            </a:r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7E7A90-0E8A-464B-AAF9-DE602691FE9F}"/>
              </a:ext>
            </a:extLst>
          </p:cNvPr>
          <p:cNvSpPr txBox="1"/>
          <p:nvPr/>
        </p:nvSpPr>
        <p:spPr>
          <a:xfrm>
            <a:off x="222639" y="1408945"/>
            <a:ext cx="397677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Fuente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Tipo de Arquitectura del modelo.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Algoritmos propuesto.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Método de optimización.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Estrategia de extracción de características.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Técnica de fusión de datos.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Método de segmentación.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Estrategia de detección.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Protocolo de comunicación.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Algoritmo de planificación.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Tipo de Arquitectura del sistema.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24B622E-3E94-460B-85CE-777E50540EAE}"/>
              </a:ext>
            </a:extLst>
          </p:cNvPr>
          <p:cNvSpPr txBox="1"/>
          <p:nvPr/>
        </p:nvSpPr>
        <p:spPr>
          <a:xfrm>
            <a:off x="4572000" y="1408945"/>
            <a:ext cx="373523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número de épocas (</a:t>
            </a:r>
            <a:r>
              <a:rPr lang="es-PE" dirty="0" err="1"/>
              <a:t>epochs</a:t>
            </a:r>
            <a:r>
              <a:rPr lang="es-PE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tamaño del lote (</a:t>
            </a:r>
            <a:r>
              <a:rPr lang="es-PE" dirty="0" err="1"/>
              <a:t>batch</a:t>
            </a:r>
            <a:r>
              <a:rPr lang="es-PE" dirty="0"/>
              <a:t> </a:t>
            </a:r>
            <a:r>
              <a:rPr lang="es-PE" dirty="0" err="1"/>
              <a:t>size</a:t>
            </a:r>
            <a:r>
              <a:rPr lang="es-PE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tasa de aprendizaje (</a:t>
            </a:r>
            <a:r>
              <a:rPr lang="es-PE" dirty="0" err="1"/>
              <a:t>learning</a:t>
            </a:r>
            <a:r>
              <a:rPr lang="es-PE" dirty="0"/>
              <a:t> </a:t>
            </a:r>
            <a:r>
              <a:rPr lang="es-PE" dirty="0" err="1"/>
              <a:t>rate</a:t>
            </a:r>
            <a:r>
              <a:rPr lang="es-PE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número de capas,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número de neuronas.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C80EFA7-B4DD-498B-8F60-964E6F485310}"/>
              </a:ext>
            </a:extLst>
          </p:cNvPr>
          <p:cNvSpPr txBox="1"/>
          <p:nvPr/>
        </p:nvSpPr>
        <p:spPr>
          <a:xfrm>
            <a:off x="4689358" y="3559957"/>
            <a:ext cx="4235570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No confundir las variables independientes con los </a:t>
            </a:r>
            <a:r>
              <a:rPr lang="es-MX" b="1" dirty="0" err="1"/>
              <a:t>hiper-parámetros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/>
              <a:t>No confundir las variables independientes con las </a:t>
            </a:r>
            <a:r>
              <a:rPr lang="es-MX" b="1" dirty="0"/>
              <a:t>características (</a:t>
            </a:r>
            <a:r>
              <a:rPr lang="es-MX" b="1" dirty="0" err="1"/>
              <a:t>features</a:t>
            </a:r>
            <a:r>
              <a:rPr lang="es-MX" b="1" dirty="0"/>
              <a:t>) </a:t>
            </a:r>
            <a:r>
              <a:rPr lang="es-MX" dirty="0"/>
              <a:t>propias del modelo a construir.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92665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C2A89-819C-4EFA-9363-8959E230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Variable dependiente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C4A530-C39A-4783-8CB5-7942F0E74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Especificar las variables dependientes de cada OE.</a:t>
            </a:r>
          </a:p>
          <a:p>
            <a:r>
              <a:rPr lang="es-MX" dirty="0"/>
              <a:t>Precisar el rango de sus valores</a:t>
            </a:r>
          </a:p>
          <a:p>
            <a:r>
              <a:rPr lang="es-MX" dirty="0"/>
              <a:t>Precisar la fórmula de cálculo</a:t>
            </a:r>
          </a:p>
          <a:p>
            <a:r>
              <a:rPr lang="es-MX" dirty="0"/>
              <a:t>Indicar cuál es la </a:t>
            </a:r>
            <a:r>
              <a:rPr lang="es-MX" dirty="0" err="1"/>
              <a:t>VD</a:t>
            </a:r>
            <a:r>
              <a:rPr lang="es-MX" dirty="0"/>
              <a:t> de artefacto</a:t>
            </a:r>
          </a:p>
          <a:p>
            <a:endParaRPr lang="es-MX" dirty="0"/>
          </a:p>
          <a:p>
            <a:r>
              <a:rPr lang="es-MX" dirty="0" err="1"/>
              <a:t>VD1</a:t>
            </a:r>
            <a:endParaRPr lang="es-MX" dirty="0"/>
          </a:p>
          <a:p>
            <a:r>
              <a:rPr lang="es-MX" dirty="0" err="1"/>
              <a:t>VD2</a:t>
            </a:r>
            <a:endParaRPr lang="es-MX" dirty="0"/>
          </a:p>
          <a:p>
            <a:r>
              <a:rPr lang="es-MX" dirty="0" err="1"/>
              <a:t>VD3</a:t>
            </a:r>
            <a:endParaRPr lang="es-MX" dirty="0"/>
          </a:p>
          <a:p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B1A318-D8CE-4358-A38B-E271E15FF1C4}"/>
              </a:ext>
            </a:extLst>
          </p:cNvPr>
          <p:cNvSpPr txBox="1"/>
          <p:nvPr/>
        </p:nvSpPr>
        <p:spPr>
          <a:xfrm>
            <a:off x="370936" y="4421732"/>
            <a:ext cx="8546858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/>
            <a:r>
              <a:rPr lang="es-MX" dirty="0"/>
              <a:t>La </a:t>
            </a:r>
            <a:r>
              <a:rPr lang="es-MX" b="1" dirty="0"/>
              <a:t>variable dependiente</a:t>
            </a:r>
            <a:r>
              <a:rPr lang="es-MX" dirty="0"/>
              <a:t> es la característica del problema o del sistema de aplicación cuyo comportamiento se mide para determinar la efectividad, eficiencia o utilidad del artefacto diseñado.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62188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E4B05-8CF6-4787-BAB1-603213E6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Metodología de la investigación 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625092-65EB-4C7E-BEFF-F8778F29D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MX" dirty="0">
                <a:solidFill>
                  <a:srgbClr val="FF0000"/>
                </a:solidFill>
                <a:highlight>
                  <a:srgbClr val="00FFFF"/>
                </a:highlight>
              </a:rPr>
              <a:t>No se expone</a:t>
            </a:r>
          </a:p>
          <a:p>
            <a:r>
              <a:rPr lang="es-MX" dirty="0"/>
              <a:t>Exponer brevemente los hitos/fases del método de solución.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76087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C2383-23E2-4627-A01A-91B72AA7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Matriz de consistencia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5C751A-5DA4-4531-9F54-528C51090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MX" dirty="0"/>
              <a:t>Presentar la matriz para verificar el alineamiento entre el problema, el objetivo y la hipótesis.</a:t>
            </a:r>
          </a:p>
          <a:p>
            <a:pPr marL="114300" indent="0">
              <a:buNone/>
            </a:pP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0C3A1A9-AE91-44C5-8918-7FFDFD7F1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97831"/>
              </p:ext>
            </p:extLst>
          </p:nvPr>
        </p:nvGraphicFramePr>
        <p:xfrm>
          <a:off x="224423" y="2571750"/>
          <a:ext cx="8695154" cy="1813806"/>
        </p:xfrm>
        <a:graphic>
          <a:graphicData uri="http://schemas.openxmlformats.org/drawingml/2006/table">
            <a:tbl>
              <a:tblPr/>
              <a:tblGrid>
                <a:gridCol w="959975">
                  <a:extLst>
                    <a:ext uri="{9D8B030D-6E8A-4147-A177-3AD203B41FA5}">
                      <a16:colId xmlns:a16="http://schemas.microsoft.com/office/drawing/2014/main" val="3401964256"/>
                    </a:ext>
                  </a:extLst>
                </a:gridCol>
                <a:gridCol w="1993793">
                  <a:extLst>
                    <a:ext uri="{9D8B030D-6E8A-4147-A177-3AD203B41FA5}">
                      <a16:colId xmlns:a16="http://schemas.microsoft.com/office/drawing/2014/main" val="3062392269"/>
                    </a:ext>
                  </a:extLst>
                </a:gridCol>
                <a:gridCol w="2086099">
                  <a:extLst>
                    <a:ext uri="{9D8B030D-6E8A-4147-A177-3AD203B41FA5}">
                      <a16:colId xmlns:a16="http://schemas.microsoft.com/office/drawing/2014/main" val="1312438084"/>
                    </a:ext>
                  </a:extLst>
                </a:gridCol>
                <a:gridCol w="1458422">
                  <a:extLst>
                    <a:ext uri="{9D8B030D-6E8A-4147-A177-3AD203B41FA5}">
                      <a16:colId xmlns:a16="http://schemas.microsoft.com/office/drawing/2014/main" val="2241551403"/>
                    </a:ext>
                  </a:extLst>
                </a:gridCol>
                <a:gridCol w="1181507">
                  <a:extLst>
                    <a:ext uri="{9D8B030D-6E8A-4147-A177-3AD203B41FA5}">
                      <a16:colId xmlns:a16="http://schemas.microsoft.com/office/drawing/2014/main" val="9262943"/>
                    </a:ext>
                  </a:extLst>
                </a:gridCol>
                <a:gridCol w="1015358">
                  <a:extLst>
                    <a:ext uri="{9D8B030D-6E8A-4147-A177-3AD203B41FA5}">
                      <a16:colId xmlns:a16="http://schemas.microsoft.com/office/drawing/2014/main" val="2504245236"/>
                    </a:ext>
                  </a:extLst>
                </a:gridCol>
              </a:tblGrid>
              <a:tr h="187563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7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Fase / Actividad MLOps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7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Problema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7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Objetivo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7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Producto verificable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7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Variable Independiente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7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Variable Dependiente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561111"/>
                  </a:ext>
                </a:extLst>
              </a:tr>
              <a:tr h="437648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Diseño de arquitectura MLOps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 existe un sistema  implementado que permita construir, entrenar y evaluar modelos de visión artificial para la estimación automatizada de la condición del pavimento de manera reproducible y controlada.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Diseñar la arquitectura de un sistema de evaluación automática del pavimento.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Arquitectura del sistema (pipeline de datos, entrenamiento, evaluación)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 aplica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 aplica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185701"/>
                  </a:ext>
                </a:extLst>
              </a:tr>
              <a:tr h="250085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Data Engineering / Data Pipeline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 existe un mecanismo estandarizado para la adquisición, almacenamiento y etiquetado de imágenes del pavimento.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OE1. Implementar el pipeline de adquisición, almacenamiento y etiquetado del dataset de pavimento.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Dataset versionado y etiquetado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Protocolo de captura de datos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Calidad del dataset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918872"/>
                  </a:ext>
                </a:extLst>
              </a:tr>
              <a:tr h="187563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Data Preprocessing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 existe un pipeline reproducible de preprocesamiento de imágenes del pavimento.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OE2. Implementar el pipeline de preprocesamiento de imágenes.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Dataset preprocesado versionado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Estrategia de preprocesamiento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Calidad de imagen procesada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739334"/>
                  </a:ext>
                </a:extLst>
              </a:tr>
              <a:tr h="187563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Model Training Pipeline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 existe un pipeline sistemático de entrenamiento de modelos de visión artificial.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OE3. Diseñar e implementar el pipeline de entrenamiento de modelos de visión artificial.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Modelos entrenados y versionados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Arquitectura del modelo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Desempeño del modelo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8144200"/>
                  </a:ext>
                </a:extLst>
              </a:tr>
              <a:tr h="250085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Experiment Tracking / Experimentation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 existe un entorno experimental controlado para evaluar configuraciones del sistema.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OE4. Ejecutar experimentos controlados mediante diseño factorial de configuraciones del sistema.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Resultados experimentales (27 combinaciones)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Configuración del sistema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Desempeño del sistema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82821"/>
                  </a:ext>
                </a:extLst>
              </a:tr>
              <a:tr h="250085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Model Evaluation (offline)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 existe análisis estadístico de los efectos de los factores del sistema.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OE5. Analizar el impacto de las configuraciones del modelo dentro del entorno de experimentación controlada.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Matriz de resultados comparativos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Factores experimentales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Efecto del modelo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137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218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FF858-DBFA-47B9-804D-CFB931DC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Conclusiones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19DDB7-8FE9-4344-95E7-1058CFBC2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Concluya</a:t>
            </a:r>
          </a:p>
          <a:p>
            <a:r>
              <a:rPr lang="es-MX" dirty="0"/>
              <a:t>Extraiga relaciones entre conceptos.</a:t>
            </a:r>
          </a:p>
          <a:p>
            <a:endParaRPr lang="es-MX" dirty="0"/>
          </a:p>
          <a:p>
            <a:r>
              <a:rPr lang="es-MX" dirty="0"/>
              <a:t>No se trata de opinar.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54853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1DEEC-7968-4B00-BCF6-C1A0C419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Recomendaciones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4BA7D2-64C6-4B58-B4FA-413E5B8A4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05589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5E5F1-E691-4609-B01B-650CBC72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115201-FC04-4B45-A67E-DA292EBC0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s-MX" dirty="0">
                <a:solidFill>
                  <a:srgbClr val="FF0000"/>
                </a:solidFill>
                <a:highlight>
                  <a:srgbClr val="00FFFF"/>
                </a:highlight>
              </a:rPr>
              <a:t>No se expone</a:t>
            </a:r>
          </a:p>
          <a:p>
            <a:r>
              <a:rPr lang="es-MX" dirty="0"/>
              <a:t>Solo las mencionadas en este documento</a:t>
            </a:r>
          </a:p>
          <a:p>
            <a:r>
              <a:rPr lang="es-MX" dirty="0"/>
              <a:t>Solo las que sustentan sus afirmaciones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9726042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1452</Words>
  <Application>Microsoft Office PowerPoint</Application>
  <PresentationFormat>Presentación en pantalla (16:9)</PresentationFormat>
  <Paragraphs>238</Paragraphs>
  <Slides>24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Arial Narrow</vt:lpstr>
      <vt:lpstr>Calibri</vt:lpstr>
      <vt:lpstr>Futura Md BT</vt:lpstr>
      <vt:lpstr>Simple Light</vt:lpstr>
      <vt:lpstr>Titulo</vt:lpstr>
      <vt:lpstr>Formato</vt:lpstr>
      <vt:lpstr>Fuentes</vt:lpstr>
      <vt:lpstr>Introducción </vt:lpstr>
      <vt:lpstr>Ontologia de la Tesis</vt:lpstr>
      <vt:lpstr>Problemática</vt:lpstr>
      <vt:lpstr>Problemática</vt:lpstr>
      <vt:lpstr>Objeto de Estudio</vt:lpstr>
      <vt:lpstr>Objeto de estudio real</vt:lpstr>
      <vt:lpstr>Instrumento para medir el objeto de estudio.</vt:lpstr>
      <vt:lpstr>Objeto de estudio modelado</vt:lpstr>
      <vt:lpstr>Problema tecnológico</vt:lpstr>
      <vt:lpstr>Planteamiento del Problema Tecnológico</vt:lpstr>
      <vt:lpstr>Problemas específicos</vt:lpstr>
      <vt:lpstr>Objetivo General</vt:lpstr>
      <vt:lpstr>Objetivos Específicos</vt:lpstr>
      <vt:lpstr>Variables independientes</vt:lpstr>
      <vt:lpstr>Variables independientes</vt:lpstr>
      <vt:lpstr>Variable dependiente</vt:lpstr>
      <vt:lpstr>Metodología de la investigación </vt:lpstr>
      <vt:lpstr>Matriz de consistencia</vt:lpstr>
      <vt:lpstr>Conclusiones</vt:lpstr>
      <vt:lpstr>Recomendaciones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</dc:title>
  <dc:creator>sds sdsd</dc:creator>
  <cp:lastModifiedBy>sumaqkaypacha@gmail.com</cp:lastModifiedBy>
  <cp:revision>25</cp:revision>
  <dcterms:modified xsi:type="dcterms:W3CDTF">2026-07-22T22:09:01Z</dcterms:modified>
</cp:coreProperties>
</file>