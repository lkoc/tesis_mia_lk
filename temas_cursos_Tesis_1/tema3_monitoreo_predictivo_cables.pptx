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detailed_conceptual_engineering_technology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0">
              <a:alpha val="66000"/>
            </a:srgbClr>
          </a:solidFill>
          <a:ln w="12700">
            <a:solidFill>
              <a:srgbClr val="0713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658368"/>
            <a:ext cx="5166360" cy="5349240"/>
          </a:xfrm>
          <a:prstGeom prst="rect">
            <a:avLst/>
          </a:prstGeom>
          <a:solidFill>
            <a:srgbClr val="091726">
              <a:alpha val="7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932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B5"/>
                </a:solidFill>
              </a:rPr>
              <a:t>Tema 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1325880"/>
            <a:ext cx="452628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Monitoreo predictivo y ampacidad dinámica de cables subterráneos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96112" y="308152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EF8"/>
                </a:solidFill>
              </a:rPr>
              <a:t>Tercer tema sugerido: IA híbrida + sensores + operación segura de la red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96112" y="4315968"/>
            <a:ext cx="2423160" cy="475488"/>
          </a:xfrm>
          <a:prstGeom prst="roundRect">
            <a:avLst/>
          </a:prstGeom>
          <a:solidFill>
            <a:srgbClr val="F47C20">
              <a:alpha val="94000"/>
            </a:srgbClr>
          </a:solidFill>
          <a:ln w="12700">
            <a:solidFill>
              <a:srgbClr val="F47C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4128" y="44622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Maestría en Inteligencia Artificial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96112" y="507492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E3F2"/>
                </a:solidFill>
              </a:rPr>
              <a:t>Borrador inicial de tema, problema, objetivos, metodología y estado del arte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Planteamiento del problema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100584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CE7F5"/>
                </a:solidFill>
              </a:rPr>
              <a:t>Tema sugerido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841248"/>
            <a:ext cx="559612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941832"/>
            <a:ext cx="5321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general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143000"/>
            <a:ext cx="5230368" cy="10607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¿Cómo detectar puntos calientes, degradación incipiente y capacidad térmica disponible en cables subterráneos usando sensores distribuidos y modelos híbridos de IA para apoyar mantenimiento y dynamic rating?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55080" y="841248"/>
            <a:ext cx="5239512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941832"/>
            <a:ext cx="49651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es buen tercer tema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0528" y="1133856"/>
            <a:ext cx="4828032" cy="14447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Complementa el Tema 1 con enfoque de operación y mantenimiento.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Tiene encaje directo en smart grids, sensórica e IA explicable.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Puede cerrarse con datasets de temperatura, carga o vibración.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10128"/>
            <a:ext cx="11045952" cy="26334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3410712"/>
            <a:ext cx="10771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Problemas específicos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" y="3685032"/>
            <a:ext cx="10561320" cy="16824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¿Qué combinación de sensores (temperatura, fibra, vibración, corriente) aporta más valor?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¿Cómo estimar ampacidad dinámica o riesgo térmico en tiempo real con incertidumbre del suelo?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¿Puede un modelo híbrido identificar fallas incipientes antes de un evento crítico?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y alcance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841248"/>
            <a:ext cx="5504688" cy="150876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941832"/>
            <a:ext cx="5230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133856"/>
            <a:ext cx="5138928" cy="8961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43447"/>
                </a:solidFill>
              </a:rPr>
              <a:t>Proponer un sistema de monitoreo predictivo para cables subterráneos que combine sensores distribuidos, variables operativas y un modelo híbrido IA-física para estimar riesgo térmico y soporte de dynamic rating.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2578608"/>
            <a:ext cx="5504688" cy="2395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679192"/>
            <a:ext cx="52303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específicos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2871216"/>
            <a:ext cx="5120640" cy="16642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Diseñar variables e indicadores de salud térmica / puntos calientes.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Construir un modelo secuencial (CNN-LSTM, TCN o similar) con restricción física ligera.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Evaluar detección temprana y estimación de capacidad dinámica.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91072" y="841248"/>
            <a:ext cx="5321808" cy="2121408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941832"/>
            <a:ext cx="50474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Alcance viable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1115568"/>
            <a:ext cx="4864608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Caso mínimo: detección/anomalía y clasificación de riesgo.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Caso ampliado: estimación de temperatura del conductor y capacidad de sobrecarga.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Salida útil para mantenimiento y despacho.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91072" y="3182112"/>
            <a:ext cx="5321808" cy="1792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282696"/>
            <a:ext cx="50474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Posibles datos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10528" y="3474720"/>
            <a:ext cx="4800600" cy="10789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DTS / sensores superficiales / vibración / corriente / clima.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</a:rPr>
              <a:t>Historial de carga y eventos de falla o cuasi-falla.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Metodología propuesta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5176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Sensado y sincronización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6918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03220" y="1325880"/>
            <a:ext cx="1965960" cy="9601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637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7754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Extracción de indicadores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8660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2064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9496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Modelo híbrido IA-física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04020" y="1801368"/>
            <a:ext cx="251460" cy="0"/>
          </a:xfrm>
          <a:prstGeom prst="line">
            <a:avLst/>
          </a:prstGeom>
          <a:noFill/>
          <a:ln w="12700">
            <a:solidFill>
              <a:srgbClr val="F47C2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38060" y="1325880"/>
            <a:ext cx="1965960" cy="960120"/>
          </a:xfrm>
          <a:prstGeom prst="roundRect">
            <a:avLst/>
          </a:prstGeom>
          <a:solidFill>
            <a:srgbClr val="FFF1E8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1121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1238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Alerta / rating dinámico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55480" y="1325880"/>
            <a:ext cx="1965960" cy="9601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8632" y="1399032"/>
            <a:ext cx="256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7C2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1472184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447"/>
                </a:solidFill>
              </a:rPr>
              <a:t>Validación de campo o laboratorio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" y="2852928"/>
            <a:ext cx="54864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" y="2953512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6968" y="3182112"/>
            <a:ext cx="502920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Señales de temperatura o vibración → ventanas temporales → features + modelo secuencial.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Fusión con corriente, topología y condiciones térmicas del entorno.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Salida: anomalía, severidad, localización aproximada, capacidad disponible.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2852928"/>
            <a:ext cx="5175504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53512"/>
            <a:ext cx="4901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583680" y="3182112"/>
            <a:ext cx="4663440" cy="15179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AUC/F1 para detección de fallas incipientes.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Error de temperatura / riesgo térmico.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Ganancia operativa en ampacidad o tiempo de respuesta.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Estado del arte: artículos clave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11109960" cy="4526280"/>
        </p:xfrm>
        <a:graphic>
          <a:graphicData uri="http://schemas.openxmlformats.org/drawingml/2006/table">
            <a:tbl>
              <a:tblPr/>
              <a:tblGrid>
                <a:gridCol w="2971800"/>
                <a:gridCol w="4343400"/>
                <a:gridCol w="37947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Artículo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Aporte útil para la tesis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Vacío / oportunidad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 et al. (2006)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IEEE Trans. Power Delivery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“Assessment of Underground Cable Ratings Based on DTS”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Usa temperatura medida por DTS + datos de instalación y carga para estimar parámetros del suelo y calcular ratings continuos y de emergencia.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Gran antecedente de rating en tiempo real; no explota modelos modernos de IA para detección o predicción temprana.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Enescu et al. (2021)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Energies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“Dynamic Thermal Rating of Underground Power Cables”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Resume conceptos y métodos de DTR/DCR y muestra que el interés está creciendo por mejores modelos computacionales y sistemas avanzados de monitoreo.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Identifica el espacio para una solución práctica que una sensado, modelado y decisión operativa.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Moutassem et al. (2025)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Algorithms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“Physics-Enhanced CNN–LSTM…”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Presenta monitoreo predictivo con acelerómetros distribuidos y CNN-LSTM mejorado con física para detectar fallas incipientes en cables HPFF.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Abre una ruta clara para tesis de IA aplicada a condición/diagnóstico en infraestructura subterránea.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Resumen de papers incluidos para sustentar el Tema 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73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de tesis y referencias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53035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868680"/>
            <a:ext cx="5559552" cy="2240280"/>
          </a:xfrm>
          <a:prstGeom prst="roundRect">
            <a:avLst/>
          </a:prstGeom>
          <a:solidFill>
            <a:srgbClr val="E9F7E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969264"/>
            <a:ext cx="52852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 académico y aplicado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1188720"/>
            <a:ext cx="5102352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Tema con perfil claro de IA aplicada y beneficio tangible para utilities.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Permite publicación en smart grids, condition monitoring o power systems.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</a:rPr>
              <a:t>Se puede ejecutar como prototipo software con dashboard o motor de alertas.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82512" y="868680"/>
            <a:ext cx="51663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969264"/>
            <a:ext cx="4892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Riesgos técnicos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01968" y="1188720"/>
            <a:ext cx="4681728" cy="14081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Conseguir datos de fallas reales puede ser difícil.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Puede requerir simulación o laboratorio para crear casos anómalos.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</a:rPr>
              <a:t>La localización exacta es más ambiciosa que la detección temprana.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493008"/>
            <a:ext cx="10881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593592"/>
            <a:ext cx="10607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mínimas sugeridas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6112" y="3840480"/>
            <a:ext cx="103784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Li, H.-J. et al. (2006). IEEE Transactions on Power Delivery, 21(4), 1763–1769.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Cho, J. et al. (2014). Energies, 7(2), 1076–1094.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Enescu, D. et al. (2021). Energies, 14(9), 2591.
</a:t>
            </a:r>
            <a:pPr indent="0" marL="0">
              <a:buNone/>
            </a:pPr>
            <a:r>
              <a:rPr lang="en-US" sz="1400" dirty="0">
                <a:solidFill>
                  <a:srgbClr val="243447"/>
                </a:solidFill>
              </a:rPr>
              <a:t>Moutassem, Z. et al. (2025). Algorithms, 18(10), 600.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6428232"/>
            <a:ext cx="11338560" cy="0"/>
          </a:xfrm>
          <a:prstGeom prst="line">
            <a:avLst/>
          </a:prstGeom>
          <a:noFill/>
          <a:ln w="12700">
            <a:solidFill>
              <a:srgbClr val="D9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6473952"/>
            <a:ext cx="9601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6B7A"/>
                </a:solidFill>
              </a:rPr>
              <a:t>Formato alineado al plan de tesis UNI y al curso Proyecto de Investigación 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3 - Monitoreo predictivo y ampacidad dinámica de cables subterráneos</dc:title>
  <dc:subject>Tema 3 - Monitoreo predictivo y ampacidad dinámica de cables subterráneos</dc:subject>
  <dc:creator>OpenAI</dc:creator>
  <cp:lastModifiedBy>OpenAI</cp:lastModifiedBy>
  <cp:revision>1</cp:revision>
  <dcterms:created xsi:type="dcterms:W3CDTF">2026-04-23T16:36:03Z</dcterms:created>
  <dcterms:modified xsi:type="dcterms:W3CDTF">2026-04-23T16:36:03Z</dcterms:modified>
</cp:coreProperties>
</file>