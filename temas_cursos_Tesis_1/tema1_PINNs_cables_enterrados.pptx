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technical_illustration_infographic_scene_c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0">
              <a:alpha val="66000"/>
            </a:srgbClr>
          </a:solidFill>
          <a:ln w="12700">
            <a:solidFill>
              <a:srgbClr val="07132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66928" y="658368"/>
            <a:ext cx="5166360" cy="5349240"/>
          </a:xfrm>
          <a:prstGeom prst="rect">
            <a:avLst/>
          </a:prstGeom>
          <a:solidFill>
            <a:srgbClr val="091726">
              <a:alpha val="7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932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B5"/>
                </a:solidFill>
              </a:rPr>
              <a:t>Tema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8680" y="1325880"/>
            <a:ext cx="452628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Cálculo térmico de cables enterrados usando PINNs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896112" y="308152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EF8"/>
                </a:solidFill>
              </a:rPr>
              <a:t>Tema orientado a IA + ingeniería térmica + sistemas de potencia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96112" y="4315968"/>
            <a:ext cx="2423160" cy="475488"/>
          </a:xfrm>
          <a:prstGeom prst="roundRect">
            <a:avLst/>
          </a:prstGeom>
          <a:solidFill>
            <a:srgbClr val="F47C20">
              <a:alpha val="94000"/>
            </a:srgbClr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44622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Maestría en Inteligencia Artificial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96112" y="507492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3F2"/>
                </a:solidFill>
              </a:rPr>
              <a:t>Borrador inicial de tema, problema, objetivos, metodología y estado del arte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Planteamiento del problema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10058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E7F5"/>
                </a:solidFill>
              </a:rPr>
              <a:t>Estructura tipo plan de tesis UNI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822960"/>
            <a:ext cx="550468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923544"/>
            <a:ext cx="5230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general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1170432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¿Cómo estimar con precisión y bajo costo computacional la temperatura del conductor y la ampacidad de cables enterrados cuando el suelo, la humedad y la temperatura ambiente cambian, evitando depender solo de FEM/IEC o de modelos de caja negra?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54496" y="822960"/>
            <a:ext cx="53492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1656" y="923544"/>
            <a:ext cx="5074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Justificación y alcance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28232" y="1133856"/>
            <a:ext cx="498348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La mayor parte del error térmico viene de parámetros del entorno difíciles de medir in situ.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Las simulaciones FEM son confiables, pero lentas para escenarios masivos y análisis operativo.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Un PINN puede imponer la ecuación de calor y aprender con pocos datos.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37560"/>
            <a:ext cx="11036808" cy="26517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3438144"/>
            <a:ext cx="107624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Problemas específicos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3703320"/>
            <a:ext cx="1060704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¿Qué variables de suelo y clima explican mejor el error de temperatura y ampacidad?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¿Puede un PINN aproximar el campo térmico 2D/3D con error competitivo frente a FEM?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¿Qué ganancia se obtiene en tiempo de cómputo y capacidad de generalización para diseño/operación?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11480" y="642823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6473952"/>
            <a:ext cx="9601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B7A"/>
                </a:solidFill>
              </a:rPr>
              <a:t>Formato alineado al plan de tesis UNI y al curso Proyecto de Investigación 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Objetivos, hipótesis y fuentes de datos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53035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822960"/>
            <a:ext cx="5440680" cy="141732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923544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general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1124712"/>
            <a:ext cx="507492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43447"/>
                </a:solidFill>
              </a:rPr>
              <a:t>Desarrollar un modelo PINN para estimar temperatura máxima del conductor y ampacidad de cables enterrados, integrando ecuación de calor, parámetros térmicos del suelo y escenarios operativos.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6928" y="2423160"/>
            <a:ext cx="54406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523744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específicos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2724912"/>
            <a:ext cx="5074920" cy="1783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Curar un dataset inicial con FEM/IEC, artículos adjuntos y escenarios sintéticos.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Entrenar y calibrar PINNs para temperatura y/o parámetros térmicos del suelo.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Comparar error, robustez y costo computacional contra FEM/IEC 60287.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822960"/>
            <a:ext cx="5385816" cy="196596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923544"/>
            <a:ext cx="51114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Hipótesis y variables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1078992"/>
            <a:ext cx="49834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Hipótesis: un PINN híbrido reducirá el error de Tmáx a &lt; 1–2 °C con menor tiempo de inferencia que FEM.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Variables clave: ρsoil, k, profundidad, separación, Tamb, Tg, corriente, bedding material.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3017520"/>
            <a:ext cx="5385816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118104"/>
            <a:ext cx="51114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Fuentes de datos iniciales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3291840"/>
            <a:ext cx="49834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PDF adjuntos: Kim 2025, Khumalo 2025, Ocłoń 2015, Aras 2005.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CSV adjuntos: fem_comparison_kim2024B y fem_T_conductor_kim2024B.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Posible expansión: simulaciones FEniCSx/COMSOL y mediciones de laboratorio.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9808" y="5230368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C20"/>
                </a:solidFill>
              </a:rPr>
              <a:t>Dato preliminar útil: en los CSV adjuntos, un PINN destilado reporta error ≈ −0.43 K frente a la referencia del paper de Kim.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642823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6473952"/>
            <a:ext cx="9601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B7A"/>
                </a:solidFill>
              </a:rPr>
              <a:t>Formato alineado al plan de tesis UNI y al curso Proyecto de Investigación 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 metodológico propuesto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53035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51760" y="1801368"/>
            <a:ext cx="251460" cy="0"/>
          </a:xfrm>
          <a:prstGeom prst="line">
            <a:avLst/>
          </a:prstGeom>
          <a:noFill/>
          <a:ln w="12700">
            <a:solidFill>
              <a:srgbClr val="F47C2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1965960" cy="96012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399032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C20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72184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Curación de artículos, IEC y CSV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69180" y="1801368"/>
            <a:ext cx="251460" cy="0"/>
          </a:xfrm>
          <a:prstGeom prst="line">
            <a:avLst/>
          </a:prstGeom>
          <a:noFill/>
          <a:ln w="12700">
            <a:solidFill>
              <a:srgbClr val="F47C2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03220" y="1325880"/>
            <a:ext cx="1965960" cy="96012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6372" y="1399032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C20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77540" y="1472184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Generación de casos FEM / FEniCSx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86600" y="1801368"/>
            <a:ext cx="251460" cy="0"/>
          </a:xfrm>
          <a:prstGeom prst="line">
            <a:avLst/>
          </a:prstGeom>
          <a:noFill/>
          <a:ln w="12700">
            <a:solidFill>
              <a:srgbClr val="F47C2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1325880"/>
            <a:ext cx="1965960" cy="96012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3792" y="1399032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C20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1472184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Entrenamiento PINN con PDE + BC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04020" y="1801368"/>
            <a:ext cx="251460" cy="0"/>
          </a:xfrm>
          <a:prstGeom prst="line">
            <a:avLst/>
          </a:prstGeom>
          <a:noFill/>
          <a:ln w="12700">
            <a:solidFill>
              <a:srgbClr val="F47C2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38060" y="1325880"/>
            <a:ext cx="1965960" cy="96012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11212" y="1399032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C20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12380" y="1472184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Validación térmica y de ampacidad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55480" y="1325880"/>
            <a:ext cx="1965960" cy="96012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28632" y="1399032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C2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29800" y="1472184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Análisis de sensibilidad y despliegue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2834640"/>
            <a:ext cx="56235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2935224"/>
            <a:ext cx="5349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de trabajo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8680" y="3182112"/>
            <a:ext cx="516636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Entradas: geometría, corriente, propiedades térmicas, clima, condiciones de borde.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Restricciones físicas: ecuación de calor, continuidad, fronteras y máximos permisibles.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Salidas: T(x,y,t), Tmáx conductor, error vs. FEM, ampacidad continua / emergencia.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46520" y="2834640"/>
            <a:ext cx="510235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935224"/>
            <a:ext cx="4828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Métricas de evaluación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675120" y="3182112"/>
            <a:ext cx="4617720" cy="16642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RMSE / MAE de temperatura.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Error en Tmáx y en corriente admisible.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Tiempo de entrenamiento e inferencia.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Robustez ante variación de ρsoil y condiciones ambientales.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11480" y="642823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6473952"/>
            <a:ext cx="9601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B7A"/>
                </a:solidFill>
              </a:rPr>
              <a:t>Formato alineado al plan de tesis UNI y al curso Proyecto de Investigación 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 del arte: artículos clave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53035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11109960" cy="4526280"/>
        </p:xfrm>
        <a:graphic>
          <a:graphicData uri="http://schemas.openxmlformats.org/drawingml/2006/table">
            <a:tbl>
              <a:tblPr/>
              <a:tblGrid>
                <a:gridCol w="2971800"/>
                <a:gridCol w="4343400"/>
                <a:gridCol w="37947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Artículo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Aporte útil para la tesis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Vacío / oportunidad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Kim et al. (2025)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Geothermics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“Effect of ambient air and ground temperatures…”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Muestra que la temperatura del suelo y el material de relleno modifican fuertemente la ampacidad crítica; PAC redujo Tmáx de 77.6 °C a 70.6 °C frente a arena.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usa IA; deja abierta una aproximación rápida que preserve la física y permita explorar muchos escenarios.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Khumalo et al. (2025)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Int. Trans. Electr. Energy Systems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“Soil drying out conditions”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Cuantifica el efecto del secado del suelo y de la resistividad térmica: en su caso, la corriente cayó de 518 A a 224 A bajo condiciones severas.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Sugiere que el problema real es altamente dependiente del sitio; un PINN inverso puede ayudar a calibrar parámetros locales.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Bragone et al. (2022)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Electric Power Systems Research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“PINNs for transformer thermal behaviour”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Prueba que un PINN térmico puede reproducir soluciones FVM con pocos datos y manteniendo la ecuación de difusión.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está aplicado a cables enterrados; allí aparece una brecha directa para una tesis de IA aplicada a potencia.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642823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" y="6473952"/>
            <a:ext cx="9601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B7A"/>
                </a:solidFill>
              </a:rPr>
              <a:t>Resumen de papers incluidos para sustentar el planteamiento del Tema 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Contribución esperada y referencias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53035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41248"/>
            <a:ext cx="5532120" cy="2103120"/>
          </a:xfrm>
          <a:prstGeom prst="roundRect">
            <a:avLst/>
          </a:prstGeom>
          <a:solidFill>
            <a:srgbClr val="E9F7E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5257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Contribución esperada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170432"/>
            <a:ext cx="507492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Un modelo térmico híbrido más rápido que FEM y físicamente consistente.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Un procedimiento reproducible para estimar ampacidad bajo incertidumbre del suelo.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Base para un gemelo digital térmico de cables enterrados.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841248"/>
            <a:ext cx="51663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941832"/>
            <a:ext cx="4892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Riesgos técnicos principales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29400" y="1170432"/>
            <a:ext cx="466344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Escasez de datos experimentales.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Identificabilidad débil de parámetros térmicos.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Costo de entrenamiento si se amplía a transiente 2D/3D.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10927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00984"/>
            <a:ext cx="10652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Referencias mínimas sugeridas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584448"/>
            <a:ext cx="1046988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447"/>
                </a:solidFill>
              </a:rPr>
              <a:t>Kim, Y.-S. et al. (2025). Geothermics, 125, 103151.
</a:t>
            </a:r>
            <a:pPr indent="0" marL="0">
              <a:buNone/>
            </a:pPr>
            <a:r>
              <a:rPr lang="en-US" sz="1400" dirty="0">
                <a:solidFill>
                  <a:srgbClr val="243447"/>
                </a:solidFill>
              </a:rPr>
              <a:t>Khumalo, N.Q. et al. (2025). Int. Trans. Electr. Energy Systems, 2025, 5946564.
</a:t>
            </a:r>
            <a:pPr indent="0" marL="0">
              <a:buNone/>
            </a:pPr>
            <a:r>
              <a:rPr lang="en-US" sz="1400" dirty="0">
                <a:solidFill>
                  <a:srgbClr val="243447"/>
                </a:solidFill>
              </a:rPr>
              <a:t>Ocłoń, P. et al. (2015). Energy, 92, 733–746.
</a:t>
            </a:r>
            <a:pPr indent="0" marL="0">
              <a:buNone/>
            </a:pPr>
            <a:r>
              <a:rPr lang="en-US" sz="1400" dirty="0">
                <a:solidFill>
                  <a:srgbClr val="243447"/>
                </a:solidFill>
              </a:rPr>
              <a:t>Aras, F. et al. (2005). Electric Power Components and Systems, 33(12), 1385–1402.
</a:t>
            </a:r>
            <a:pPr indent="0" marL="0">
              <a:buNone/>
            </a:pPr>
            <a:r>
              <a:rPr lang="en-US" sz="1400" dirty="0">
                <a:solidFill>
                  <a:srgbClr val="243447"/>
                </a:solidFill>
              </a:rPr>
              <a:t>Bragone, F. et al. (2022). Electric Power Systems Research, 211, 108447.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642823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6473952"/>
            <a:ext cx="9601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B7A"/>
                </a:solidFill>
              </a:rPr>
              <a:t>Formato alineado al plan de tesis UNI y al curso Proyecto de Investigación 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1 - Cálculo térmico de cables enterrados con PINNs</dc:title>
  <dc:subject>Tema 1 - Cálculo térmico de cables enterrados con PINNs</dc:subject>
  <dc:creator>OpenAI</dc:creator>
  <cp:lastModifiedBy>OpenAI</cp:lastModifiedBy>
  <cp:revision>1</cp:revision>
  <dcterms:created xsi:type="dcterms:W3CDTF">2026-04-23T16:36:03Z</dcterms:created>
  <dcterms:modified xsi:type="dcterms:W3CDTF">2026-04-23T16:36:03Z</dcterms:modified>
</cp:coreProperties>
</file>